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966960" y="1143000"/>
            <a:ext cx="914400" cy="914400"/>
          </a:xfrm>
          <a:prstGeom prst="round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61320" y="1691640"/>
            <a:ext cx="640080" cy="640080"/>
          </a:xfrm>
          <a:prstGeom prst="roundRect">
            <a:avLst/>
          </a:prstGeom>
          <a:solidFill>
            <a:srgbClr val="56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55480" y="1828800"/>
            <a:ext cx="502920" cy="502920"/>
          </a:xfrm>
          <a:prstGeom prst="round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498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7B496"/>
                </a:solidFill>
                <a:latin typeface="Aptos"/>
              </a:rPr>
              <a:t>PHISHING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AWARENESS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EB9CA"/>
                </a:solidFill>
                <a:latin typeface="Aptos"/>
              </a:rPr>
              <a:t>Recognize the bait. Verify the source. Protect the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349240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CodeAlpha Cyber Security Internship • Task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7607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9CA"/>
                </a:solidFill>
                <a:latin typeface="Aptos"/>
              </a:rPr>
              <a:t>Awareness • Detection • Prevention •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1. 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A social-engineering attack designed to make a person reveal, approve, download, or transfer something valuable.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416052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4864" cy="4160520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64207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THE BAIT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75688"/>
            <a:ext cx="3081528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9CA"/>
                </a:solidFill>
                <a:latin typeface="Aptos"/>
              </a:rPr>
              <a:t>A message creates urgency, fear, curiosity, or a tempting reward.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416052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54864" cy="4160520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64207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THE 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081528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9CA"/>
                </a:solidFill>
                <a:latin typeface="Aptos"/>
              </a:rPr>
              <a:t>The victim is pushed toward a link, attachment, QR code, reply, call, or payment.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429000" cy="416052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54864" cy="416052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64207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THE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75688"/>
            <a:ext cx="3081528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9CA"/>
                </a:solidFill>
                <a:latin typeface="Aptos"/>
              </a:rPr>
              <a:t>Steal credentials, money, sensitive data, session access, or deliver malware.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2. How a Phishing Attack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Think of phishing as a chain: impersonate → pressure → action → compromise.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14600" cy="4069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4864" cy="4069080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09928"/>
            <a:ext cx="21671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Impersonate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21408"/>
            <a:ext cx="2167128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9CA"/>
                </a:solidFill>
                <a:latin typeface="Aptos"/>
              </a:rPr>
              <a:t>Attacker copies a trusted person, brand, service, or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5074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B496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54480"/>
            <a:ext cx="2514600" cy="4069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554480"/>
            <a:ext cx="54864" cy="4069080"/>
          </a:xfrm>
          <a:prstGeom prst="rect">
            <a:avLst/>
          </a:prstGeom>
          <a:solidFill>
            <a:srgbClr val="56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709928"/>
            <a:ext cx="21671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Create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121408"/>
            <a:ext cx="2167128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9CA"/>
                </a:solidFill>
                <a:latin typeface="Aptos"/>
              </a:rPr>
              <a:t>Urgency, account suspension, invoice, delivery, or fear.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5074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691EB"/>
                </a:solidFill>
                <a:latin typeface="Aptos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554480"/>
            <a:ext cx="2514600" cy="4069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2784" y="1554480"/>
            <a:ext cx="54864" cy="4069080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709928"/>
            <a:ext cx="21671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Prompt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121408"/>
            <a:ext cx="2167128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9CA"/>
                </a:solidFill>
                <a:latin typeface="Aptos"/>
              </a:rPr>
              <a:t>Victim clicks, signs in, opens, replies, scans, or pays.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5074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AE46"/>
                </a:solidFill>
                <a:latin typeface="Aptos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554480"/>
            <a:ext cx="2514600" cy="4069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89136" y="1554480"/>
            <a:ext cx="54864" cy="40690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72015" y="1709928"/>
            <a:ext cx="21671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Capture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5" y="2121408"/>
            <a:ext cx="2167128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B9CA"/>
                </a:solidFill>
                <a:latin typeface="Aptos"/>
              </a:rPr>
              <a:t>Credentials, MFA approval, data, money, or device access.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5074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5B5B"/>
                </a:solidFill>
                <a:latin typeface="Aptos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3. Major Types of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The delivery channel changes, but the manipulation pattern is similar.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1783080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Email 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9CA"/>
                </a:solidFill>
                <a:latin typeface="Aptos"/>
              </a:rPr>
              <a:t>Mass messages pretending to be banks, services, employers, or vendors.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54864" cy="1783080"/>
          </a:xfrm>
          <a:prstGeom prst="rect">
            <a:avLst/>
          </a:prstGeom>
          <a:solidFill>
            <a:srgbClr val="56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7276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Spear 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9CA"/>
                </a:solidFill>
                <a:latin typeface="Aptos"/>
              </a:rPr>
              <a:t>Targeted message tailored to a specific person or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41732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59" y="1417320"/>
            <a:ext cx="54864" cy="1783080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39" y="157276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Whaling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198424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9CA"/>
                </a:solidFill>
                <a:latin typeface="Aptos"/>
              </a:rPr>
              <a:t>Targeting executives or high-value decision makers.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54864" cy="17830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72160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Smishing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3308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9CA"/>
                </a:solidFill>
                <a:latin typeface="Aptos"/>
              </a:rPr>
              <a:t>Fraudulent SMS/text messages.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54864" cy="1783080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72160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Vishing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3308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9CA"/>
                </a:solidFill>
                <a:latin typeface="Aptos"/>
              </a:rPr>
              <a:t>Voice calls or voicemail impersonation.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56616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59" y="3566160"/>
            <a:ext cx="54864" cy="1783080"/>
          </a:xfrm>
          <a:prstGeom prst="rect">
            <a:avLst/>
          </a:prstGeom>
          <a:solidFill>
            <a:srgbClr val="56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39" y="372160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QR phishing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13308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B9CA"/>
                </a:solidFill>
                <a:latin typeface="Aptos"/>
              </a:rPr>
              <a:t>Malicious QR codes that redirect victims to fake pages.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4. Email Phishing: Red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A familiar logo or sender name is not proof of legitimacy.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9494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Unexpected urgency: “Your account will be closed today.”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Sender address does not match the claimed organization.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Reply-to address differs from the visible sender.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Link text looks legitimate but points somewhere unexpected.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Attachment is unusual, password-protected, or unexpectedly executable.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Message requests passwords, MFA codes, payment, gift cards, or secrecy.</a:t>
            </a:r>
          </a:p>
          <a:p>
            <a:pPr>
              <a:spcAft>
                <a:spcPts val="800"/>
              </a:spcAft>
              <a:defRPr sz="1550">
                <a:solidFill>
                  <a:srgbClr val="F5F7FA"/>
                </a:solidFill>
                <a:latin typeface="Aptos"/>
              </a:defRPr>
            </a:pPr>
            <a:r>
              <a:t>• Grammar and branding can be polished—do not rely on spelling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429000" cy="45262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1417320"/>
            <a:ext cx="54864" cy="45262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572768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BEST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84248"/>
            <a:ext cx="3081528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9CA"/>
                </a:solidFill>
                <a:latin typeface="Aptos"/>
              </a:rPr>
              <a:t>Do not use the message's contact details to verify the request.
Open the service using a known bookmark/app or contact the organization through an independently verified channel.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5. Fake Websites &amp; Credential Harvesting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The objective is often to make the victim type a real password into a fake 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448056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4480560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CHECK THE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3127248" cy="3785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9CA"/>
                </a:solidFill>
                <a:latin typeface="Aptos"/>
              </a:rPr>
              <a:t>Read the full domain, not just the logo.
Watch for look-alikes, extra words, deceptive subdomains, and misspellings.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448056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54864" cy="4480560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572768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CHECK THE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84248"/>
            <a:ext cx="3127248" cy="3785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9CA"/>
                </a:solidFill>
                <a:latin typeface="Aptos"/>
              </a:rPr>
              <a:t>Were you expecting the login request?
Did a message suddenly force you to re-authenticate? Use a known route instead.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474720" cy="448056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417320"/>
            <a:ext cx="54864" cy="448056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3" y="1572768"/>
            <a:ext cx="3127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HTTPS ≠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1984248"/>
            <a:ext cx="3127248" cy="3785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9CA"/>
                </a:solidFill>
                <a:latin typeface="Aptos"/>
              </a:rPr>
              <a:t>HTTPS encrypts the connection; it does not prove that the website is legitimate.
A malicious site can also use HTTPS.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6. Social Engineering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Attackers exploit human decision-making as much as technical weaknesses.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17830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“I’m from IT / the bank / your manager.”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54864" cy="1783080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7276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Urgency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“Act in 10 minutes or lose access.”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41732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59" y="1417320"/>
            <a:ext cx="54864" cy="17830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39" y="157276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Fear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198424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“Suspicious activity detected.”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54864" cy="1783080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72160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3308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“You won a prize / refund.”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54864" cy="1783080"/>
          </a:xfrm>
          <a:prstGeom prst="rect">
            <a:avLst/>
          </a:prstGeom>
          <a:solidFill>
            <a:srgbClr val="56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72160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Familiarity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3308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Uses names, logos, routines, or current projects.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566160"/>
            <a:ext cx="3337560" cy="17830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59" y="3566160"/>
            <a:ext cx="54864" cy="1783080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39" y="3721608"/>
            <a:ext cx="2990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Secrecy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4133088"/>
            <a:ext cx="2990088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“Do not tell anyone; handle this privately.”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7. Real-World-Style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Use the same verification habits across email, SMS, calls, and QR codes.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66360" cy="20116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2011680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Payroll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4818888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AEB9CA"/>
                </a:solidFill>
                <a:latin typeface="Aptos"/>
              </a:rPr>
              <a:t>Message: “Update your bank details before 5 PM.”
Response: Verify with HR/payroll using a known contact.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20116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864" cy="20116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72768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Cloud storage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84248"/>
            <a:ext cx="4818888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AEB9CA"/>
                </a:solidFill>
                <a:latin typeface="Aptos"/>
              </a:rPr>
              <a:t>Message: “Your files will be deleted unless you sign in.”
Response: Open the cloud service directly from your normal app/bookmark.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166360" cy="20116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54864" cy="2011680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995928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Delivery SMS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407408"/>
            <a:ext cx="4818888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AEB9CA"/>
                </a:solidFill>
                <a:latin typeface="Aptos"/>
              </a:rPr>
              <a:t>Message: “Package held. Pay ₹42 to reschedule.”
Response: Check the delivery in the carrier's official app/site.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80"/>
            <a:ext cx="5166360" cy="20116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54864" cy="2011680"/>
          </a:xfrm>
          <a:prstGeom prst="rect">
            <a:avLst/>
          </a:prstGeom>
          <a:solidFill>
            <a:srgbClr val="56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995928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Executive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407408"/>
            <a:ext cx="4818888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AEB9CA"/>
                </a:solidFill>
                <a:latin typeface="Aptos"/>
              </a:rPr>
              <a:t>Message: “I’m in a meeting. Buy gift cards and send codes.”
Response: Call the executive through a known number and confirm.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8. A 30-Second Verification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Pause before you click, sign in, approve, or pay.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96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280160"/>
            <a:ext cx="10149840" cy="749808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1280160"/>
            <a:ext cx="54864" cy="749808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435607"/>
            <a:ext cx="9802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47088"/>
            <a:ext cx="9802367" cy="54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AEB9CA"/>
                </a:solidFill>
                <a:latin typeface="Aptos"/>
              </a:rPr>
              <a:t>Do not act while the message is creating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96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240280"/>
            <a:ext cx="10149840" cy="749808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34440" y="2240280"/>
            <a:ext cx="54864" cy="749808"/>
          </a:xfrm>
          <a:prstGeom prst="rect">
            <a:avLst/>
          </a:prstGeom>
          <a:solidFill>
            <a:srgbClr val="56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395728"/>
            <a:ext cx="9802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9802367" cy="54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AEB9CA"/>
                </a:solidFill>
                <a:latin typeface="Aptos"/>
              </a:rPr>
              <a:t>Check sender, domain, link destination, attachment, and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7355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96"/>
                </a:solidFill>
                <a:latin typeface="Apto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200400"/>
            <a:ext cx="10149840" cy="749808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34440" y="3200400"/>
            <a:ext cx="54864" cy="749808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3355848"/>
            <a:ext cx="9802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67328"/>
            <a:ext cx="9802367" cy="54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AEB9CA"/>
                </a:solidFill>
                <a:latin typeface="Aptos"/>
              </a:rPr>
              <a:t>Use an independent channel: official app, bookmark, known number, or colleague.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3367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96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160520"/>
            <a:ext cx="10149840" cy="749808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34440" y="4160520"/>
            <a:ext cx="54864" cy="749808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17320" y="4315968"/>
            <a:ext cx="9802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27448"/>
            <a:ext cx="9802367" cy="54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AEB9CA"/>
                </a:solidFill>
                <a:latin typeface="Aptos"/>
              </a:rPr>
              <a:t>Use your organization's phishing-reporting process.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9379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96"/>
                </a:solidFill>
                <a:latin typeface="Aptos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5120640"/>
            <a:ext cx="10149840" cy="749808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234440" y="5120640"/>
            <a:ext cx="54864" cy="749808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20" y="5276088"/>
            <a:ext cx="980236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RESET / RESPOND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687568"/>
            <a:ext cx="9802367" cy="54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AEB9CA"/>
                </a:solidFill>
                <a:latin typeface="Aptos"/>
              </a:rPr>
              <a:t>If you interacted, change affected credentials and follow incident-response guidance.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9. Prevention: Build Safer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Security improves when good decisions become routine.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5262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4526280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3081528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AEB9CA"/>
                </a:solidFill>
                <a:latin typeface="Aptos"/>
              </a:rPr>
              <a:t>Use strong unique passwords and a password manager.
Enable MFA. Prefer phishing-resistant methods when 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45262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54864" cy="4526280"/>
          </a:xfrm>
          <a:prstGeom prst="rect">
            <a:avLst/>
          </a:prstGeom>
          <a:solidFill>
            <a:srgbClr val="56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72768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DEVICES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3081528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AEB9CA"/>
                </a:solidFill>
                <a:latin typeface="Aptos"/>
              </a:rPr>
              <a:t>Keep OS, browser, and security tools updated.
Avoid unknown software and suspicious attachments.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45262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54864" cy="4526280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72768"/>
            <a:ext cx="30815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PEOPLE &amp;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84248"/>
            <a:ext cx="3081528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AEB9CA"/>
                </a:solidFill>
                <a:latin typeface="Aptos"/>
              </a:rPr>
              <a:t>Report suspicious messages quickly.
Use verification procedures for payments, password resets, and sensitive requests.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10. What To Do If You Clicked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Fast, calm response is more useful than panic.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Stop interacting with the suspicious page/message.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If you entered credentials, change the password from a trusted device or route.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Sign out or revoke active sessions if the service supports it.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If MFA approval was involved, review and remove unfamiliar sessions/devices.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Notify your organization/security team immediately if this is a work account.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If payment or financial information was exposed, contact the relevant provider promptly.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Preserve the message, URL, timestamp, and screenshots as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417320"/>
            <a:ext cx="3063240" cy="45262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21040" y="1417320"/>
            <a:ext cx="54864" cy="45262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19" y="1572768"/>
            <a:ext cx="2715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DO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1984248"/>
            <a:ext cx="2715768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9CA"/>
                </a:solidFill>
                <a:latin typeface="Aptos"/>
              </a:rPr>
              <a:t>Hide the incident because you are embarrassed.
Early reporting can limit account takeover, fraud, and further compromise.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11. Interactive Quiz — Q1 &amp; 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Choose the best answer before revealing the key.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Q1. A message says your Microsoft 365 account will be disabled in 15 minutes. The link opens a login page with HTTPS. What is the strongest next step?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238658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35000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Click because HTTPS means the site is safe.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238658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35000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Open Microsoft 365 through a known bookmark/app and check there.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2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1638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312724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Reply asking the sender to confirm.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31638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12724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Forward the link to a friend to test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Q2. Your “manager” asks you to buy gift cards urgently and send the codes. What is the key red flag?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47640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72744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The request uses a familiar name.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61772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47640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472744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The request is urgent and bypasses normal verification.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12. Interactive Quiz — Q3 &amp; Q4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Think like a defender: identify the risk, then choose the safest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Q3. Which statement is TRUE?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20208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98424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A padlock/HTTPS proves the organization owns the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20208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198424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Spelling errors are always present in phishing messages.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0604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275234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71576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Attackers can imitate branding and use HTTPS on malicious sites.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0604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275234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71576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A familiar sender display name proves authenticity.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204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Q4. You scanned a QR code from an unexpected SMS. What should you do FIRST?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43068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27024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Enter your password quickly before the page expires.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6052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43068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427024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Close it and access the service through its official app/site.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9204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" y="503834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500176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Share the QR code with coworkers.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92040"/>
            <a:ext cx="5212080" cy="621792"/>
          </a:xfrm>
          <a:prstGeom prst="roundRect">
            <a:avLst/>
          </a:prstGeom>
          <a:solidFill>
            <a:srgbClr val="182134"/>
          </a:solidFill>
          <a:ln>
            <a:solidFill>
              <a:srgbClr val="35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4224" y="503834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B496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5001768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Disable MFA to avoid interruptions.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13. Quiz Answer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9CA"/>
                </a:solidFill>
                <a:latin typeface="Aptos"/>
              </a:rPr>
              <a:t>Why the correct choice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2976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7B496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874519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1874519"/>
          </a:xfrm>
          <a:prstGeom prst="rect">
            <a:avLst/>
          </a:prstGeom>
          <a:solidFill>
            <a:srgbClr val="37B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48646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Q1 —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864608" cy="1179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Use a known route to the service. Do not trust the link supplied by the suspicious message.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212080" cy="1874519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4864" cy="1874519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72768"/>
            <a:ext cx="48646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Q2 —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84248"/>
            <a:ext cx="4864608" cy="1179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Urgency + payment/gift-card request + bypassing normal verification is a classic social-engineering pattern.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212080" cy="1874519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54864" cy="1874519"/>
          </a:xfrm>
          <a:prstGeom prst="rect">
            <a:avLst/>
          </a:prstGeom>
          <a:solidFill>
            <a:srgbClr val="56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813048"/>
            <a:ext cx="48646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Q3 —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8"/>
            <a:ext cx="4864608" cy="1179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HTTPS protects the connection but does not establish the identity or intent of the site.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212080" cy="1874519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54864" cy="1874519"/>
          </a:xfrm>
          <a:prstGeom prst="rect">
            <a:avLst/>
          </a:prstGeom>
          <a:solidFill>
            <a:srgbClr val="F5A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813048"/>
            <a:ext cx="48646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Q4 —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864608" cy="1179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EB9CA"/>
                </a:solidFill>
                <a:latin typeface="Aptos"/>
              </a:rPr>
              <a:t>Use the official app/site independently. QR codes can hide the destination until scanned.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323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EB9CA"/>
                </a:solidFill>
                <a:latin typeface="Aptos"/>
              </a:rPr>
              <a:t>CodeAlpha Cyber Security Internship • Task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5943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7B496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7772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Pause • Inspect • Verify •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7863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Phishing is primarily a trust-and-decision attack.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Urgency and authority are signals to slow down—not reasons to act faster.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Never use the suspicious message itself to verify a sensitive request.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HTTPS, logos, familiar names, and polished writing are not proof of legitimacy.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Report quickly and respond calmly if you interact with a suspicious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63040"/>
            <a:ext cx="2651760" cy="3611880"/>
          </a:xfrm>
          <a:prstGeom prst="roundRect">
            <a:avLst/>
          </a:prstGeom>
          <a:solidFill>
            <a:srgbClr val="182134"/>
          </a:solidFill>
          <a:ln>
            <a:solidFill>
              <a:srgbClr val="2C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32520" y="1463040"/>
            <a:ext cx="54864" cy="36118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1618488"/>
            <a:ext cx="23042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029968"/>
            <a:ext cx="2304288" cy="2916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EB9CA"/>
                </a:solidFill>
                <a:latin typeface="Aptos"/>
              </a:rPr>
              <a:t>When in doubt:
STOP.
VERIFY INDEPENDENTLY.
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9CA"/>
                </a:solidFill>
                <a:latin typeface="Aptos"/>
              </a:rPr>
              <a:t>End of training • CodeAlpha Task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1603</Words>
  <Application>Microsoft Office PowerPoint</Application>
  <PresentationFormat>Widescreen</PresentationFormat>
  <Paragraphs>202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1</cp:revision>
  <dcterms:created xsi:type="dcterms:W3CDTF">2013-01-27T09:14:16Z</dcterms:created>
  <dcterms:modified xsi:type="dcterms:W3CDTF">2026-09-02T15:33:16Z</dcterms:modified>
  <cp:category/>
</cp:coreProperties>
</file>